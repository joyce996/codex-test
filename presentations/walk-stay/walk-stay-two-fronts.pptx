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面对敌军围剿，湖北的红军队伍作出了两种主动选择：一支向外线突围，一支向山地坚守。一走一留，服务的是同一个革命大局。</a:t>
            </a:r>
          </a:p>
          <a:p>
            <a:pPr/>
            <a:endParaRPr lang="zh-CN" dirty="0"/>
          </a:p>
          <a:p>
            <a:pPr/>
            <a:r>
              <a:rPr lang="zh-CN" dirty="0"/>
              <a:t>先看走。1934年深秋，红二十五军刚刚在英山陶家河重建根据地，国民党重兵便围了上来。这支年轻的队伍选择集结转移、北上抗日，踏上长征之路。从何家冲出发时，全军不到三千人；到达陕北时，发展到了四千多人，并沿途建立了鄂豫陕根据地。走，是把队伍带出去，为革命开拓新的斗争局面。</a:t>
            </a:r>
          </a:p>
          <a:p>
            <a:pPr/>
            <a:endParaRPr lang="zh-CN" dirty="0"/>
          </a:p>
          <a:p>
            <a:pPr/>
            <a:r>
              <a:rPr lang="zh-CN" dirty="0"/>
              <a:t>北上这条线的同时，另一支游击武装在主力北上后离开平原，退守冷水坪，继续坚持游击。两条时序一起保留，正是为了看到不同选择之间的联系。地图以英山、通山两个县域定位，箭头表示行动方向，并非精确旧址坐标或行军轨迹；下方节点按叙事先后排列，不表示等比例时间跨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再看留。主力红军北上之后，鄂东南道委带领游击武装，放弃平原地区的机关驻地，主动退守通山冷水坪的深山密林，向山坚守。这是把革命火种留下来，接续鄂东南的游击斗争。</a:t>
            </a:r>
          </a:p>
          <a:p>
            <a:pPr/>
            <a:endParaRPr lang="zh-CN" dirty="0"/>
          </a:p>
          <a:p>
            <a:pPr/>
            <a:r>
              <a:rPr lang="zh-CN" dirty="0"/>
              <a:t>就在这样的条件下，他们办起了兵工厂、红军医院，坚持游击战争。冷水坪也成为红军长征后，湖北地区最后一块游击根据地的中心。留这条线，沿着离开平原、退守山地、持续斗争展开；走这条线仍保留在同一幅时空框架中，提示我们北上开局和山地坚守所处的共同背景。</a:t>
            </a:r>
          </a:p>
          <a:p>
            <a:pPr/>
            <a:endParaRPr lang="zh-CN" dirty="0"/>
          </a:p>
          <a:p>
            <a:pPr/>
            <a:r>
              <a:rPr lang="zh-CN" dirty="0"/>
              <a:t>走，把队伍带出去，开拓新局；留，把火种留下来，接续斗争。一个大局，两条战线。读懂这一走一留，关键是看到两种选择都立足实际，都把革命事业的全局放在首位。这正是长征精神中取舍服从大局的智慧。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alk_stay_two_front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alk_stay_two_front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running-header"/>
          <p:cNvGrpSpPr/>
          <p:nvPr/>
        </p:nvGrpSpPr>
        <p:grpSpPr>
          <a:xfrm>
            <a:off x="602742" y="415925"/>
            <a:ext cx="10986516" cy="264033"/>
            <a:chOff x="602742" y="415925"/>
            <a:chExt cx="109865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15925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历史回望 / 湖北红军的一走一留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939909" y="41592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一个大局，两条战线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1312" y="850900"/>
            <a:ext cx="3215213" cy="922020"/>
            <a:chOff x="591312" y="850900"/>
            <a:chExt cx="3215213" cy="922020"/>
          </a:xfrm>
        </p:grpSpPr>
        <p:sp>
          <p:nvSpPr>
            <p:cNvPr id="5" name="TextBox 5"/>
            <p:cNvSpPr txBox="1"/>
            <p:nvPr/>
          </p:nvSpPr>
          <p:spPr>
            <a:xfrm>
              <a:off x="591312" y="850900"/>
              <a:ext cx="32152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走 · 北上开局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1030" y="1479550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红二十五军 / 英山陶家河</a:t>
              </a:r>
            </a:p>
          </p:txBody>
        </p:sp>
      </p:grpSp>
      <p:sp>
        <p:nvSpPr>
          <p:cNvPr id="8" name="page-number"/>
          <p:cNvSpPr txBox="1"/>
          <p:nvPr/>
        </p:nvSpPr>
        <p:spPr>
          <a:xfrm>
            <a:off x="11103540" y="113030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 / 02</a:t>
            </a:r>
          </a:p>
        </p:txBody>
      </p:sp>
      <p:sp>
        <p:nvSpPr>
          <p:cNvPr id="9" name="hubei-map"/>
          <p:cNvSpPr/>
          <p:nvPr/>
        </p:nvSpPr>
        <p:spPr>
          <a:xfrm>
            <a:off x="952500" y="1935480"/>
            <a:ext cx="4566285" cy="2896552"/>
          </a:xfrm>
          <a:custGeom>
            <a:avLst/>
            <a:gdLst/>
            <a:ahLst/>
            <a:cxnLst/>
            <a:rect l="l" t="t" r="r" b="b"/>
            <a:pathLst>
              <a:path w="4566285" h="2896552">
                <a:moveTo>
                  <a:pt x="3061335" y="2335530"/>
                </a:moveTo>
                <a:lnTo>
                  <a:pt x="2808922" y="2614612"/>
                </a:lnTo>
                <a:lnTo>
                  <a:pt x="2687002" y="2595562"/>
                </a:lnTo>
                <a:lnTo>
                  <a:pt x="2738438" y="2387918"/>
                </a:lnTo>
                <a:lnTo>
                  <a:pt x="2687002" y="2452688"/>
                </a:lnTo>
                <a:lnTo>
                  <a:pt x="2654618" y="2373630"/>
                </a:lnTo>
                <a:lnTo>
                  <a:pt x="2531745" y="2516505"/>
                </a:lnTo>
                <a:lnTo>
                  <a:pt x="2402205" y="2478405"/>
                </a:lnTo>
                <a:lnTo>
                  <a:pt x="2299335" y="2576512"/>
                </a:lnTo>
                <a:lnTo>
                  <a:pt x="2306002" y="2508885"/>
                </a:lnTo>
                <a:lnTo>
                  <a:pt x="2176462" y="2452688"/>
                </a:lnTo>
                <a:lnTo>
                  <a:pt x="2176462" y="2391728"/>
                </a:lnTo>
                <a:lnTo>
                  <a:pt x="2021205" y="2297430"/>
                </a:lnTo>
                <a:lnTo>
                  <a:pt x="1782128" y="2293620"/>
                </a:lnTo>
                <a:lnTo>
                  <a:pt x="1691640" y="2204085"/>
                </a:lnTo>
                <a:lnTo>
                  <a:pt x="1407795" y="2150745"/>
                </a:lnTo>
                <a:lnTo>
                  <a:pt x="1375410" y="2211705"/>
                </a:lnTo>
                <a:lnTo>
                  <a:pt x="1259205" y="2196465"/>
                </a:lnTo>
                <a:lnTo>
                  <a:pt x="1252538" y="2293620"/>
                </a:lnTo>
                <a:lnTo>
                  <a:pt x="1337310" y="2384108"/>
                </a:lnTo>
                <a:lnTo>
                  <a:pt x="1221105" y="2463165"/>
                </a:lnTo>
                <a:lnTo>
                  <a:pt x="1001078" y="2377440"/>
                </a:lnTo>
                <a:lnTo>
                  <a:pt x="845820" y="2387918"/>
                </a:lnTo>
                <a:lnTo>
                  <a:pt x="762000" y="2508885"/>
                </a:lnTo>
                <a:lnTo>
                  <a:pt x="671512" y="2489835"/>
                </a:lnTo>
                <a:lnTo>
                  <a:pt x="516255" y="2840355"/>
                </a:lnTo>
                <a:lnTo>
                  <a:pt x="432435" y="2768918"/>
                </a:lnTo>
                <a:lnTo>
                  <a:pt x="432435" y="2663190"/>
                </a:lnTo>
                <a:lnTo>
                  <a:pt x="322898" y="2693670"/>
                </a:lnTo>
                <a:lnTo>
                  <a:pt x="322898" y="2524125"/>
                </a:lnTo>
                <a:lnTo>
                  <a:pt x="180975" y="2445068"/>
                </a:lnTo>
                <a:lnTo>
                  <a:pt x="167640" y="2331720"/>
                </a:lnTo>
                <a:lnTo>
                  <a:pt x="39052" y="2414588"/>
                </a:lnTo>
                <a:lnTo>
                  <a:pt x="0" y="2343150"/>
                </a:lnTo>
                <a:lnTo>
                  <a:pt x="83820" y="2324100"/>
                </a:lnTo>
                <a:lnTo>
                  <a:pt x="122873" y="2060258"/>
                </a:lnTo>
                <a:lnTo>
                  <a:pt x="19050" y="1973580"/>
                </a:lnTo>
                <a:lnTo>
                  <a:pt x="32385" y="1894523"/>
                </a:lnTo>
                <a:lnTo>
                  <a:pt x="116205" y="1909762"/>
                </a:lnTo>
                <a:lnTo>
                  <a:pt x="174307" y="1830705"/>
                </a:lnTo>
                <a:lnTo>
                  <a:pt x="258127" y="1894523"/>
                </a:lnTo>
                <a:lnTo>
                  <a:pt x="394335" y="1782128"/>
                </a:lnTo>
                <a:lnTo>
                  <a:pt x="445770" y="1868805"/>
                </a:lnTo>
                <a:lnTo>
                  <a:pt x="548640" y="1796415"/>
                </a:lnTo>
                <a:lnTo>
                  <a:pt x="581025" y="1898332"/>
                </a:lnTo>
                <a:lnTo>
                  <a:pt x="826770" y="1649730"/>
                </a:lnTo>
                <a:lnTo>
                  <a:pt x="962025" y="1616392"/>
                </a:lnTo>
                <a:lnTo>
                  <a:pt x="987742" y="1684020"/>
                </a:lnTo>
                <a:lnTo>
                  <a:pt x="1045845" y="1616392"/>
                </a:lnTo>
                <a:lnTo>
                  <a:pt x="1045845" y="1284923"/>
                </a:lnTo>
                <a:lnTo>
                  <a:pt x="794385" y="1167765"/>
                </a:lnTo>
                <a:lnTo>
                  <a:pt x="801052" y="1069658"/>
                </a:lnTo>
                <a:lnTo>
                  <a:pt x="717233" y="1046798"/>
                </a:lnTo>
                <a:lnTo>
                  <a:pt x="729615" y="719138"/>
                </a:lnTo>
                <a:lnTo>
                  <a:pt x="659130" y="662940"/>
                </a:lnTo>
                <a:lnTo>
                  <a:pt x="742950" y="452438"/>
                </a:lnTo>
                <a:lnTo>
                  <a:pt x="975360" y="489585"/>
                </a:lnTo>
                <a:lnTo>
                  <a:pt x="1078230" y="425768"/>
                </a:lnTo>
                <a:lnTo>
                  <a:pt x="1020128" y="289560"/>
                </a:lnTo>
                <a:lnTo>
                  <a:pt x="820102" y="240983"/>
                </a:lnTo>
                <a:lnTo>
                  <a:pt x="839152" y="127635"/>
                </a:lnTo>
                <a:lnTo>
                  <a:pt x="626745" y="75248"/>
                </a:lnTo>
                <a:lnTo>
                  <a:pt x="664845" y="22860"/>
                </a:lnTo>
                <a:lnTo>
                  <a:pt x="1091565" y="63818"/>
                </a:lnTo>
                <a:lnTo>
                  <a:pt x="1272540" y="0"/>
                </a:lnTo>
                <a:lnTo>
                  <a:pt x="1375410" y="109538"/>
                </a:lnTo>
                <a:lnTo>
                  <a:pt x="1537335" y="0"/>
                </a:lnTo>
                <a:lnTo>
                  <a:pt x="1872615" y="452438"/>
                </a:lnTo>
                <a:lnTo>
                  <a:pt x="1969770" y="444818"/>
                </a:lnTo>
                <a:lnTo>
                  <a:pt x="2325052" y="640080"/>
                </a:lnTo>
                <a:lnTo>
                  <a:pt x="2847975" y="564833"/>
                </a:lnTo>
                <a:lnTo>
                  <a:pt x="2970848" y="678180"/>
                </a:lnTo>
                <a:lnTo>
                  <a:pt x="3151822" y="580073"/>
                </a:lnTo>
                <a:lnTo>
                  <a:pt x="3164205" y="869633"/>
                </a:lnTo>
                <a:lnTo>
                  <a:pt x="3293745" y="1028700"/>
                </a:lnTo>
                <a:lnTo>
                  <a:pt x="3416618" y="960120"/>
                </a:lnTo>
                <a:lnTo>
                  <a:pt x="3481388" y="1032510"/>
                </a:lnTo>
                <a:lnTo>
                  <a:pt x="3655695" y="1021080"/>
                </a:lnTo>
                <a:lnTo>
                  <a:pt x="3642360" y="1167765"/>
                </a:lnTo>
                <a:lnTo>
                  <a:pt x="3804285" y="1231582"/>
                </a:lnTo>
                <a:lnTo>
                  <a:pt x="3997643" y="1133475"/>
                </a:lnTo>
                <a:lnTo>
                  <a:pt x="4023360" y="1254442"/>
                </a:lnTo>
                <a:lnTo>
                  <a:pt x="4120515" y="1269682"/>
                </a:lnTo>
                <a:lnTo>
                  <a:pt x="4236720" y="1446848"/>
                </a:lnTo>
                <a:lnTo>
                  <a:pt x="4313872" y="1404938"/>
                </a:lnTo>
                <a:lnTo>
                  <a:pt x="4520565" y="1537335"/>
                </a:lnTo>
                <a:lnTo>
                  <a:pt x="4346258" y="1759268"/>
                </a:lnTo>
                <a:lnTo>
                  <a:pt x="4436745" y="1876425"/>
                </a:lnTo>
                <a:lnTo>
                  <a:pt x="4430078" y="2019300"/>
                </a:lnTo>
                <a:lnTo>
                  <a:pt x="4527232" y="2090738"/>
                </a:lnTo>
                <a:lnTo>
                  <a:pt x="4566285" y="2354580"/>
                </a:lnTo>
                <a:lnTo>
                  <a:pt x="4513898" y="2395538"/>
                </a:lnTo>
                <a:lnTo>
                  <a:pt x="4197668" y="2343150"/>
                </a:lnTo>
                <a:lnTo>
                  <a:pt x="4069080" y="2493645"/>
                </a:lnTo>
                <a:lnTo>
                  <a:pt x="3965257" y="2460308"/>
                </a:lnTo>
                <a:lnTo>
                  <a:pt x="3990975" y="2568892"/>
                </a:lnTo>
                <a:lnTo>
                  <a:pt x="3888105" y="2527935"/>
                </a:lnTo>
                <a:lnTo>
                  <a:pt x="3830002" y="2647950"/>
                </a:lnTo>
                <a:lnTo>
                  <a:pt x="3468052" y="2678430"/>
                </a:lnTo>
                <a:lnTo>
                  <a:pt x="3461385" y="2757488"/>
                </a:lnTo>
                <a:lnTo>
                  <a:pt x="3345180" y="2776538"/>
                </a:lnTo>
                <a:lnTo>
                  <a:pt x="3254692" y="2896552"/>
                </a:lnTo>
                <a:lnTo>
                  <a:pt x="3126105" y="2863215"/>
                </a:lnTo>
                <a:lnTo>
                  <a:pt x="3080385" y="2746058"/>
                </a:lnTo>
                <a:lnTo>
                  <a:pt x="3164205" y="2610802"/>
                </a:lnTo>
                <a:lnTo>
                  <a:pt x="3093720" y="2557462"/>
                </a:lnTo>
                <a:lnTo>
                  <a:pt x="3158490" y="2512695"/>
                </a:lnTo>
                <a:lnTo>
                  <a:pt x="3112770" y="2448878"/>
                </a:lnTo>
                <a:lnTo>
                  <a:pt x="3035618" y="2441258"/>
                </a:lnTo>
                <a:lnTo>
                  <a:pt x="3061335" y="2335530"/>
                </a:lnTo>
                <a:close/>
              </a:path>
            </a:pathLst>
          </a:custGeom>
          <a:solidFill>
            <a:schemeClr val="lt2"/>
          </a:solidFill>
          <a:ln w="11430">
            <a:solidFill>
              <a:schemeClr val="accent3"/>
            </a:solidFill>
          </a:ln>
        </p:spPr>
      </p:sp>
      <p:sp>
        <p:nvSpPr>
          <p:cNvPr id="10" name="yingshan-county"/>
          <p:cNvSpPr/>
          <p:nvPr/>
        </p:nvSpPr>
        <p:spPr>
          <a:xfrm>
            <a:off x="5157788" y="3377565"/>
            <a:ext cx="318135" cy="438150"/>
          </a:xfrm>
          <a:custGeom>
            <a:avLst/>
            <a:gdLst/>
            <a:ahLst/>
            <a:cxnLst/>
            <a:rect l="l" t="t" r="r" b="b"/>
            <a:pathLst>
              <a:path w="318135" h="438150">
                <a:moveTo>
                  <a:pt x="217170" y="37147"/>
                </a:moveTo>
                <a:lnTo>
                  <a:pt x="245745" y="71438"/>
                </a:lnTo>
                <a:lnTo>
                  <a:pt x="314325" y="99060"/>
                </a:lnTo>
                <a:lnTo>
                  <a:pt x="318135" y="127635"/>
                </a:lnTo>
                <a:lnTo>
                  <a:pt x="201930" y="191452"/>
                </a:lnTo>
                <a:lnTo>
                  <a:pt x="190500" y="273367"/>
                </a:lnTo>
                <a:lnTo>
                  <a:pt x="153353" y="267652"/>
                </a:lnTo>
                <a:lnTo>
                  <a:pt x="138112" y="310515"/>
                </a:lnTo>
                <a:lnTo>
                  <a:pt x="143828" y="328612"/>
                </a:lnTo>
                <a:lnTo>
                  <a:pt x="111443" y="365760"/>
                </a:lnTo>
                <a:lnTo>
                  <a:pt x="100012" y="414338"/>
                </a:lnTo>
                <a:lnTo>
                  <a:pt x="61912" y="438150"/>
                </a:lnTo>
                <a:lnTo>
                  <a:pt x="52388" y="393382"/>
                </a:lnTo>
                <a:lnTo>
                  <a:pt x="25718" y="385762"/>
                </a:lnTo>
                <a:lnTo>
                  <a:pt x="14288" y="362902"/>
                </a:lnTo>
                <a:lnTo>
                  <a:pt x="34290" y="323850"/>
                </a:lnTo>
                <a:lnTo>
                  <a:pt x="55245" y="315277"/>
                </a:lnTo>
                <a:lnTo>
                  <a:pt x="60960" y="280035"/>
                </a:lnTo>
                <a:lnTo>
                  <a:pt x="45720" y="220027"/>
                </a:lnTo>
                <a:lnTo>
                  <a:pt x="0" y="239077"/>
                </a:lnTo>
                <a:lnTo>
                  <a:pt x="28575" y="204788"/>
                </a:lnTo>
                <a:lnTo>
                  <a:pt x="43815" y="154305"/>
                </a:lnTo>
                <a:lnTo>
                  <a:pt x="108585" y="106680"/>
                </a:lnTo>
                <a:lnTo>
                  <a:pt x="109538" y="54292"/>
                </a:lnTo>
                <a:lnTo>
                  <a:pt x="140970" y="55245"/>
                </a:lnTo>
                <a:lnTo>
                  <a:pt x="152400" y="22860"/>
                </a:lnTo>
                <a:lnTo>
                  <a:pt x="204788" y="0"/>
                </a:lnTo>
                <a:lnTo>
                  <a:pt x="217170" y="37147"/>
                </a:lnTo>
                <a:close/>
              </a:path>
            </a:pathLst>
          </a:custGeom>
          <a:solidFill>
            <a:schemeClr val="accent1">
              <a:alpha val="22000"/>
            </a:schemeClr>
          </a:solidFill>
          <a:ln>
            <a:noFill/>
          </a:ln>
        </p:spPr>
      </p:sp>
      <p:sp>
        <p:nvSpPr>
          <p:cNvPr id="11" name="tongshan-county"/>
          <p:cNvSpPr/>
          <p:nvPr/>
        </p:nvSpPr>
        <p:spPr>
          <a:xfrm>
            <a:off x="4403408" y="4274820"/>
            <a:ext cx="429577" cy="359092"/>
          </a:xfrm>
          <a:custGeom>
            <a:avLst/>
            <a:gdLst/>
            <a:ahLst/>
            <a:cxnLst/>
            <a:rect l="l" t="t" r="r" b="b"/>
            <a:pathLst>
              <a:path w="429577" h="359092">
                <a:moveTo>
                  <a:pt x="398145" y="267652"/>
                </a:moveTo>
                <a:lnTo>
                  <a:pt x="401955" y="236220"/>
                </a:lnTo>
                <a:lnTo>
                  <a:pt x="383858" y="215265"/>
                </a:lnTo>
                <a:lnTo>
                  <a:pt x="360997" y="258127"/>
                </a:lnTo>
                <a:lnTo>
                  <a:pt x="403860" y="283845"/>
                </a:lnTo>
                <a:lnTo>
                  <a:pt x="379095" y="305752"/>
                </a:lnTo>
                <a:lnTo>
                  <a:pt x="296227" y="329565"/>
                </a:lnTo>
                <a:lnTo>
                  <a:pt x="287655" y="305752"/>
                </a:lnTo>
                <a:lnTo>
                  <a:pt x="221933" y="315277"/>
                </a:lnTo>
                <a:lnTo>
                  <a:pt x="162877" y="357188"/>
                </a:lnTo>
                <a:lnTo>
                  <a:pt x="125730" y="355283"/>
                </a:lnTo>
                <a:lnTo>
                  <a:pt x="118110" y="342900"/>
                </a:lnTo>
                <a:lnTo>
                  <a:pt x="60008" y="359092"/>
                </a:lnTo>
                <a:lnTo>
                  <a:pt x="45720" y="329565"/>
                </a:lnTo>
                <a:lnTo>
                  <a:pt x="65722" y="297180"/>
                </a:lnTo>
                <a:lnTo>
                  <a:pt x="48577" y="300038"/>
                </a:lnTo>
                <a:lnTo>
                  <a:pt x="42862" y="270510"/>
                </a:lnTo>
                <a:lnTo>
                  <a:pt x="0" y="237172"/>
                </a:lnTo>
                <a:lnTo>
                  <a:pt x="20002" y="227647"/>
                </a:lnTo>
                <a:lnTo>
                  <a:pt x="17145" y="204788"/>
                </a:lnTo>
                <a:lnTo>
                  <a:pt x="59055" y="140970"/>
                </a:lnTo>
                <a:lnTo>
                  <a:pt x="63817" y="110490"/>
                </a:lnTo>
                <a:lnTo>
                  <a:pt x="78105" y="128588"/>
                </a:lnTo>
                <a:lnTo>
                  <a:pt x="99060" y="120015"/>
                </a:lnTo>
                <a:lnTo>
                  <a:pt x="165735" y="64770"/>
                </a:lnTo>
                <a:lnTo>
                  <a:pt x="200025" y="58102"/>
                </a:lnTo>
                <a:lnTo>
                  <a:pt x="215265" y="46672"/>
                </a:lnTo>
                <a:lnTo>
                  <a:pt x="206692" y="30480"/>
                </a:lnTo>
                <a:lnTo>
                  <a:pt x="231458" y="24765"/>
                </a:lnTo>
                <a:lnTo>
                  <a:pt x="243840" y="3810"/>
                </a:lnTo>
                <a:lnTo>
                  <a:pt x="275272" y="0"/>
                </a:lnTo>
                <a:lnTo>
                  <a:pt x="289560" y="4762"/>
                </a:lnTo>
                <a:lnTo>
                  <a:pt x="281940" y="60960"/>
                </a:lnTo>
                <a:lnTo>
                  <a:pt x="348615" y="79058"/>
                </a:lnTo>
                <a:lnTo>
                  <a:pt x="372427" y="110490"/>
                </a:lnTo>
                <a:lnTo>
                  <a:pt x="389572" y="175260"/>
                </a:lnTo>
                <a:lnTo>
                  <a:pt x="429577" y="224790"/>
                </a:lnTo>
                <a:lnTo>
                  <a:pt x="398145" y="267652"/>
                </a:lnTo>
                <a:close/>
              </a:path>
            </a:pathLst>
          </a:custGeom>
          <a:solidFill>
            <a:schemeClr val="accent2">
              <a:alpha val="9000"/>
            </a:schemeClr>
          </a:solidFill>
          <a:ln>
            <a:noFill/>
          </a:ln>
        </p:spPr>
      </p:sp>
      <p:grpSp>
        <p:nvGrpSpPr>
          <p:cNvPr id="13" name="!!province"/>
          <p:cNvGrpSpPr/>
          <p:nvPr/>
        </p:nvGrpSpPr>
        <p:grpSpPr>
          <a:xfrm>
            <a:off x="2844165" y="3403600"/>
            <a:ext cx="502920" cy="352044"/>
            <a:chOff x="2844165" y="3403600"/>
            <a:chExt cx="502920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2844165" y="34036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湖北</a:t>
              </a:r>
            </a:p>
          </p:txBody>
        </p:sp>
      </p:grpSp>
      <p:grpSp>
        <p:nvGrpSpPr>
          <p:cNvPr id="24" name="walk-front"/>
          <p:cNvGrpSpPr/>
          <p:nvPr/>
        </p:nvGrpSpPr>
        <p:grpSpPr>
          <a:xfrm>
            <a:off x="3993642" y="1758950"/>
            <a:ext cx="3419475" cy="2102358"/>
            <a:chOff x="3993642" y="1758950"/>
            <a:chExt cx="3419475" cy="2102358"/>
          </a:xfrm>
        </p:grpSpPr>
        <p:grpSp>
          <p:nvGrpSpPr>
            <p:cNvPr id="17" name="Group 17"/>
            <p:cNvGrpSpPr/>
            <p:nvPr/>
          </p:nvGrpSpPr>
          <p:grpSpPr>
            <a:xfrm>
              <a:off x="4324350" y="2047875"/>
              <a:ext cx="1590675" cy="1524000"/>
              <a:chOff x="4324350" y="2047875"/>
              <a:chExt cx="1590675" cy="15240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5295900" y="2857500"/>
                <a:ext cx="60960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714375">
                    <a:moveTo>
                      <a:pt x="0" y="714375"/>
                    </a:moveTo>
                    <a:lnTo>
                      <a:pt x="609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905500" y="20478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25">
                    <a:moveTo>
                      <a:pt x="0" y="80962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 flipH="1">
                <a:off x="4324350" y="2047875"/>
                <a:ext cx="1581150" cy="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tailEnd type="triangle" w="lg" len="lg"/>
              </a:ln>
            </p:spPr>
          </p:sp>
        </p:grpSp>
        <p:sp>
          <p:nvSpPr>
            <p:cNvPr id="18" name="Ellipse 18"/>
            <p:cNvSpPr/>
            <p:nvPr/>
          </p:nvSpPr>
          <p:spPr>
            <a:xfrm>
              <a:off x="5229225" y="350520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867400" y="26479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93642" y="17589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北上至陕北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27242" y="24923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何家冲（省外）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7380" y="3317875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英山 · 陶家河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08142" y="35972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集结转移</a:t>
              </a:r>
            </a:p>
          </p:txBody>
        </p:sp>
      </p:grpSp>
      <p:grpSp>
        <p:nvGrpSpPr>
          <p:cNvPr id="29" name="stay-front"/>
          <p:cNvGrpSpPr/>
          <p:nvPr/>
        </p:nvGrpSpPr>
        <p:grpSpPr>
          <a:xfrm>
            <a:off x="4191000" y="4048125"/>
            <a:ext cx="2125790" cy="718058"/>
            <a:chOff x="4191000" y="4048125"/>
            <a:chExt cx="2125790" cy="718058"/>
          </a:xfrm>
        </p:grpSpPr>
        <p:sp>
          <p:nvSpPr>
            <p:cNvPr id="25" name="Line 25"/>
            <p:cNvSpPr/>
            <p:nvPr/>
          </p:nvSpPr>
          <p:spPr>
            <a:xfrm>
              <a:off x="4191000" y="4048125"/>
              <a:ext cx="400050" cy="390525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6" name="Ellipse 26"/>
            <p:cNvSpPr/>
            <p:nvPr/>
          </p:nvSpPr>
          <p:spPr>
            <a:xfrm>
              <a:off x="4562475" y="44196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59680" y="423227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通山 · 冷水坪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60442" y="45021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向山坚守</a:t>
              </a:r>
            </a:p>
          </p:txBody>
        </p:sp>
      </p:grpSp>
      <p:sp>
        <p:nvSpPr>
          <p:cNvPr id="30" name="Line 30"/>
          <p:cNvSpPr/>
          <p:nvPr/>
        </p:nvSpPr>
        <p:spPr>
          <a:xfrm>
            <a:off x="7705725" y="1981200"/>
            <a:ext cx="9525" cy="2781300"/>
          </a:xfrm>
          <a:custGeom>
            <a:avLst/>
            <a:gdLst/>
            <a:ahLst/>
            <a:cxnLst/>
            <a:rect l="l" t="t" r="r" b="b"/>
            <a:pathLst>
              <a:path w="9525" h="2781300">
                <a:moveTo>
                  <a:pt x="0" y="0"/>
                </a:moveTo>
                <a:lnTo>
                  <a:pt x="0" y="278130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34" name="decision"/>
          <p:cNvGrpSpPr/>
          <p:nvPr/>
        </p:nvGrpSpPr>
        <p:grpSpPr>
          <a:xfrm>
            <a:off x="8103108" y="2016125"/>
            <a:ext cx="2932176" cy="1023620"/>
            <a:chOff x="8103108" y="2016125"/>
            <a:chExt cx="2932176" cy="1023620"/>
          </a:xfrm>
        </p:grpSpPr>
        <p:sp>
          <p:nvSpPr>
            <p:cNvPr id="31" name="TextBox 31"/>
            <p:cNvSpPr txBox="1"/>
            <p:nvPr/>
          </p:nvSpPr>
          <p:spPr>
            <a:xfrm>
              <a:off x="8108442" y="20161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主动选择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3108" y="228917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集结转移，北上抗日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7680" y="2746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把队伍带出去</a:t>
              </a:r>
            </a:p>
          </p:txBody>
        </p:sp>
      </p:grpSp>
      <p:grpSp>
        <p:nvGrpSpPr>
          <p:cNvPr id="39" name="outcome"/>
          <p:cNvGrpSpPr/>
          <p:nvPr/>
        </p:nvGrpSpPr>
        <p:grpSpPr>
          <a:xfrm>
            <a:off x="8102346" y="3216275"/>
            <a:ext cx="3056221" cy="1510919"/>
            <a:chOff x="8102346" y="3216275"/>
            <a:chExt cx="3056221" cy="1510919"/>
          </a:xfrm>
        </p:grpSpPr>
        <p:sp>
          <p:nvSpPr>
            <p:cNvPr id="35" name="TextBox 35"/>
            <p:cNvSpPr txBox="1"/>
            <p:nvPr/>
          </p:nvSpPr>
          <p:spPr>
            <a:xfrm>
              <a:off x="8108442" y="3216275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何家冲出发 → 到达陕北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2346" y="3511550"/>
              <a:ext cx="30562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不足3000 → 4000余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8442" y="39687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兵力发展（人）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6156" y="43751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沿途建立鄂豫陕根据地</a:t>
              </a:r>
            </a:p>
          </p:txBody>
        </p:sp>
      </p:grpSp>
      <p:grpSp>
        <p:nvGrpSpPr>
          <p:cNvPr id="42" name="map-caption"/>
          <p:cNvGrpSpPr/>
          <p:nvPr/>
        </p:nvGrpSpPr>
        <p:grpSpPr>
          <a:xfrm>
            <a:off x="604266" y="4873625"/>
            <a:ext cx="10983468" cy="205359"/>
            <a:chOff x="604266" y="4873625"/>
            <a:chExt cx="109834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04266" y="4873625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县域定位与战线方向示意 · 非精确行军轨迹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59651" y="4873625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双线时序 / 按叙事节点排列</a:t>
              </a:r>
            </a:p>
          </p:txBody>
        </p:sp>
      </p:grpSp>
      <p:grpSp>
        <p:nvGrpSpPr>
          <p:cNvPr id="57" name="!!walk-lane"/>
          <p:cNvGrpSpPr/>
          <p:nvPr/>
        </p:nvGrpSpPr>
        <p:grpSpPr>
          <a:xfrm>
            <a:off x="601980" y="5102225"/>
            <a:ext cx="10980420" cy="671195"/>
            <a:chOff x="601980" y="5102225"/>
            <a:chExt cx="10980420" cy="671195"/>
          </a:xfrm>
        </p:grpSpPr>
        <p:sp>
          <p:nvSpPr>
            <p:cNvPr id="43" name="TextBox 43"/>
            <p:cNvSpPr txBox="1"/>
            <p:nvPr/>
          </p:nvSpPr>
          <p:spPr>
            <a:xfrm>
              <a:off x="601980" y="5289550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走 · 外线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095500" y="5391150"/>
              <a:ext cx="9486900" cy="9525"/>
            </a:xfrm>
            <a:custGeom>
              <a:avLst/>
              <a:gdLst/>
              <a:ahLst/>
              <a:cxnLst/>
              <a:rect l="l" t="t" r="r" b="b"/>
              <a:pathLst>
                <a:path w="9486900" h="9525">
                  <a:moveTo>
                    <a:pt x="0" y="0"/>
                  </a:moveTo>
                  <a:lnTo>
                    <a:pt x="94869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2638425" y="5343525"/>
              <a:ext cx="7696200" cy="95250"/>
              <a:chOff x="2638425" y="5343525"/>
              <a:chExt cx="7696200" cy="95250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2638425" y="5343525"/>
                <a:ext cx="95250" cy="95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6143625" y="5343525"/>
                <a:ext cx="95250" cy="95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10239375" y="5343525"/>
                <a:ext cx="95250" cy="95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52" name="Group 52"/>
            <p:cNvGrpSpPr/>
            <p:nvPr/>
          </p:nvGrpSpPr>
          <p:grpSpPr>
            <a:xfrm>
              <a:off x="2313203" y="5102225"/>
              <a:ext cx="8261833" cy="205359"/>
              <a:chOff x="2313203" y="5102225"/>
              <a:chExt cx="8261833" cy="205359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2313203" y="5102225"/>
                <a:ext cx="7456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1934年深秋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903214" y="5102225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北上出发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998964" y="5102225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发展壮大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2375535" y="5480050"/>
              <a:ext cx="8121015" cy="293370"/>
              <a:chOff x="2375535" y="5480050"/>
              <a:chExt cx="8121015" cy="293370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2375535" y="5480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陶家河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880735" y="5480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何家冲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077450" y="5480050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陕北</a:t>
                </a:r>
              </a:p>
            </p:txBody>
          </p:sp>
        </p:grpSp>
      </p:grpSp>
      <p:grpSp>
        <p:nvGrpSpPr>
          <p:cNvPr id="72" name="!!stay-lane"/>
          <p:cNvGrpSpPr/>
          <p:nvPr/>
        </p:nvGrpSpPr>
        <p:grpSpPr>
          <a:xfrm>
            <a:off x="601980" y="5730875"/>
            <a:ext cx="10980420" cy="671195"/>
            <a:chOff x="601980" y="5730875"/>
            <a:chExt cx="10980420" cy="671195"/>
          </a:xfrm>
        </p:grpSpPr>
        <p:sp>
          <p:nvSpPr>
            <p:cNvPr id="58" name="TextBox 58"/>
            <p:cNvSpPr txBox="1"/>
            <p:nvPr/>
          </p:nvSpPr>
          <p:spPr>
            <a:xfrm>
              <a:off x="601980" y="5918200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留 · 腹地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2095500" y="6019800"/>
              <a:ext cx="9486900" cy="9525"/>
            </a:xfrm>
            <a:custGeom>
              <a:avLst/>
              <a:gdLst/>
              <a:ahLst/>
              <a:cxnLst/>
              <a:rect l="l" t="t" r="r" b="b"/>
              <a:pathLst>
                <a:path w="9486900" h="9525">
                  <a:moveTo>
                    <a:pt x="0" y="0"/>
                  </a:moveTo>
                  <a:lnTo>
                    <a:pt x="94869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2647950" y="5981700"/>
              <a:ext cx="7677150" cy="76200"/>
              <a:chOff x="2647950" y="5981700"/>
              <a:chExt cx="7677150" cy="76200"/>
            </a:xfrm>
          </p:grpSpPr>
          <p:sp>
            <p:nvSpPr>
              <p:cNvPr id="60" name="Ellipse 60"/>
              <p:cNvSpPr/>
              <p:nvPr/>
            </p:nvSpPr>
            <p:spPr>
              <a:xfrm>
                <a:off x="2647950" y="598170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6153150" y="598170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10248900" y="598170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grpSp>
          <p:nvGrpSpPr>
            <p:cNvPr id="67" name="Group 67"/>
            <p:cNvGrpSpPr/>
            <p:nvPr/>
          </p:nvGrpSpPr>
          <p:grpSpPr>
            <a:xfrm>
              <a:off x="2327338" y="5730875"/>
              <a:ext cx="8247698" cy="205359"/>
              <a:chOff x="2327338" y="5730875"/>
              <a:chExt cx="8247698" cy="205359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2327338" y="5730875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主力北上后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903214" y="5730875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退守山地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998964" y="5730875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持续斗争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2274570" y="6108700"/>
              <a:ext cx="8423910" cy="293370"/>
              <a:chOff x="2274570" y="6108700"/>
              <a:chExt cx="8423910" cy="293370"/>
            </a:xfrm>
          </p:grpSpPr>
          <p:sp>
            <p:nvSpPr>
              <p:cNvPr id="68" name="TextBox 68"/>
              <p:cNvSpPr txBox="1"/>
              <p:nvPr/>
            </p:nvSpPr>
            <p:spPr>
              <a:xfrm>
                <a:off x="2274570" y="61087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离开平原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5880735" y="610870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冷水坪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875520" y="61087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坚持游击</a:t>
                </a:r>
              </a:p>
            </p:txBody>
          </p:sp>
        </p:grpSp>
      </p:grpSp>
      <p:grpSp>
        <p:nvGrpSpPr>
          <p:cNvPr id="74" name="takeaway"/>
          <p:cNvGrpSpPr/>
          <p:nvPr/>
        </p:nvGrpSpPr>
        <p:grpSpPr>
          <a:xfrm>
            <a:off x="4642294" y="6473825"/>
            <a:ext cx="2907411" cy="381381"/>
            <a:chOff x="4642294" y="6473825"/>
            <a:chExt cx="2907411" cy="381381"/>
          </a:xfrm>
        </p:grpSpPr>
        <p:sp>
          <p:nvSpPr>
            <p:cNvPr id="73" name="TextBox 73"/>
            <p:cNvSpPr txBox="1"/>
            <p:nvPr/>
          </p:nvSpPr>
          <p:spPr>
            <a:xfrm>
              <a:off x="4642294" y="64738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一走一留，都是</a:t>
              </a:r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主动选择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running-header"/>
          <p:cNvGrpSpPr/>
          <p:nvPr/>
        </p:nvGrpSpPr>
        <p:grpSpPr>
          <a:xfrm>
            <a:off x="602742" y="415925"/>
            <a:ext cx="10986516" cy="264033"/>
            <a:chOff x="602742" y="415925"/>
            <a:chExt cx="109865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15925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历史回望 / 湖北红军的一走一留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939909" y="41592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一个大局，两条战线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1312" y="850900"/>
            <a:ext cx="3306128" cy="922020"/>
            <a:chOff x="591312" y="850900"/>
            <a:chExt cx="3306128" cy="922020"/>
          </a:xfrm>
        </p:grpSpPr>
        <p:sp>
          <p:nvSpPr>
            <p:cNvPr id="5" name="TextBox 5"/>
            <p:cNvSpPr txBox="1"/>
            <p:nvPr/>
          </p:nvSpPr>
          <p:spPr>
            <a:xfrm>
              <a:off x="591312" y="850900"/>
              <a:ext cx="32152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留 · 向山续火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1030" y="1479550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鄂东南道委与游击武装 / 通山冷水坪</a:t>
              </a:r>
            </a:p>
          </p:txBody>
        </p:sp>
      </p:grpSp>
      <p:sp>
        <p:nvSpPr>
          <p:cNvPr id="8" name="page-number"/>
          <p:cNvSpPr txBox="1"/>
          <p:nvPr/>
        </p:nvSpPr>
        <p:spPr>
          <a:xfrm>
            <a:off x="11103540" y="113030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 / 02</a:t>
            </a:r>
          </a:p>
        </p:txBody>
      </p:sp>
      <p:sp>
        <p:nvSpPr>
          <p:cNvPr id="9" name="hubei-map"/>
          <p:cNvSpPr/>
          <p:nvPr/>
        </p:nvSpPr>
        <p:spPr>
          <a:xfrm>
            <a:off x="952500" y="1935480"/>
            <a:ext cx="4566285" cy="2896552"/>
          </a:xfrm>
          <a:custGeom>
            <a:avLst/>
            <a:gdLst/>
            <a:ahLst/>
            <a:cxnLst/>
            <a:rect l="l" t="t" r="r" b="b"/>
            <a:pathLst>
              <a:path w="4566285" h="2896552">
                <a:moveTo>
                  <a:pt x="3061335" y="2335530"/>
                </a:moveTo>
                <a:lnTo>
                  <a:pt x="2808922" y="2614612"/>
                </a:lnTo>
                <a:lnTo>
                  <a:pt x="2687002" y="2595562"/>
                </a:lnTo>
                <a:lnTo>
                  <a:pt x="2738438" y="2387918"/>
                </a:lnTo>
                <a:lnTo>
                  <a:pt x="2687002" y="2452688"/>
                </a:lnTo>
                <a:lnTo>
                  <a:pt x="2654618" y="2373630"/>
                </a:lnTo>
                <a:lnTo>
                  <a:pt x="2531745" y="2516505"/>
                </a:lnTo>
                <a:lnTo>
                  <a:pt x="2402205" y="2478405"/>
                </a:lnTo>
                <a:lnTo>
                  <a:pt x="2299335" y="2576512"/>
                </a:lnTo>
                <a:lnTo>
                  <a:pt x="2306002" y="2508885"/>
                </a:lnTo>
                <a:lnTo>
                  <a:pt x="2176462" y="2452688"/>
                </a:lnTo>
                <a:lnTo>
                  <a:pt x="2176462" y="2391728"/>
                </a:lnTo>
                <a:lnTo>
                  <a:pt x="2021205" y="2297430"/>
                </a:lnTo>
                <a:lnTo>
                  <a:pt x="1782128" y="2293620"/>
                </a:lnTo>
                <a:lnTo>
                  <a:pt x="1691640" y="2204085"/>
                </a:lnTo>
                <a:lnTo>
                  <a:pt x="1407795" y="2150745"/>
                </a:lnTo>
                <a:lnTo>
                  <a:pt x="1375410" y="2211705"/>
                </a:lnTo>
                <a:lnTo>
                  <a:pt x="1259205" y="2196465"/>
                </a:lnTo>
                <a:lnTo>
                  <a:pt x="1252538" y="2293620"/>
                </a:lnTo>
                <a:lnTo>
                  <a:pt x="1337310" y="2384108"/>
                </a:lnTo>
                <a:lnTo>
                  <a:pt x="1221105" y="2463165"/>
                </a:lnTo>
                <a:lnTo>
                  <a:pt x="1001078" y="2377440"/>
                </a:lnTo>
                <a:lnTo>
                  <a:pt x="845820" y="2387918"/>
                </a:lnTo>
                <a:lnTo>
                  <a:pt x="762000" y="2508885"/>
                </a:lnTo>
                <a:lnTo>
                  <a:pt x="671512" y="2489835"/>
                </a:lnTo>
                <a:lnTo>
                  <a:pt x="516255" y="2840355"/>
                </a:lnTo>
                <a:lnTo>
                  <a:pt x="432435" y="2768918"/>
                </a:lnTo>
                <a:lnTo>
                  <a:pt x="432435" y="2663190"/>
                </a:lnTo>
                <a:lnTo>
                  <a:pt x="322898" y="2693670"/>
                </a:lnTo>
                <a:lnTo>
                  <a:pt x="322898" y="2524125"/>
                </a:lnTo>
                <a:lnTo>
                  <a:pt x="180975" y="2445068"/>
                </a:lnTo>
                <a:lnTo>
                  <a:pt x="167640" y="2331720"/>
                </a:lnTo>
                <a:lnTo>
                  <a:pt x="39052" y="2414588"/>
                </a:lnTo>
                <a:lnTo>
                  <a:pt x="0" y="2343150"/>
                </a:lnTo>
                <a:lnTo>
                  <a:pt x="83820" y="2324100"/>
                </a:lnTo>
                <a:lnTo>
                  <a:pt x="122873" y="2060258"/>
                </a:lnTo>
                <a:lnTo>
                  <a:pt x="19050" y="1973580"/>
                </a:lnTo>
                <a:lnTo>
                  <a:pt x="32385" y="1894523"/>
                </a:lnTo>
                <a:lnTo>
                  <a:pt x="116205" y="1909762"/>
                </a:lnTo>
                <a:lnTo>
                  <a:pt x="174307" y="1830705"/>
                </a:lnTo>
                <a:lnTo>
                  <a:pt x="258127" y="1894523"/>
                </a:lnTo>
                <a:lnTo>
                  <a:pt x="394335" y="1782128"/>
                </a:lnTo>
                <a:lnTo>
                  <a:pt x="445770" y="1868805"/>
                </a:lnTo>
                <a:lnTo>
                  <a:pt x="548640" y="1796415"/>
                </a:lnTo>
                <a:lnTo>
                  <a:pt x="581025" y="1898332"/>
                </a:lnTo>
                <a:lnTo>
                  <a:pt x="826770" y="1649730"/>
                </a:lnTo>
                <a:lnTo>
                  <a:pt x="962025" y="1616392"/>
                </a:lnTo>
                <a:lnTo>
                  <a:pt x="987742" y="1684020"/>
                </a:lnTo>
                <a:lnTo>
                  <a:pt x="1045845" y="1616392"/>
                </a:lnTo>
                <a:lnTo>
                  <a:pt x="1045845" y="1284923"/>
                </a:lnTo>
                <a:lnTo>
                  <a:pt x="794385" y="1167765"/>
                </a:lnTo>
                <a:lnTo>
                  <a:pt x="801052" y="1069658"/>
                </a:lnTo>
                <a:lnTo>
                  <a:pt x="717233" y="1046798"/>
                </a:lnTo>
                <a:lnTo>
                  <a:pt x="729615" y="719138"/>
                </a:lnTo>
                <a:lnTo>
                  <a:pt x="659130" y="662940"/>
                </a:lnTo>
                <a:lnTo>
                  <a:pt x="742950" y="452438"/>
                </a:lnTo>
                <a:lnTo>
                  <a:pt x="975360" y="489585"/>
                </a:lnTo>
                <a:lnTo>
                  <a:pt x="1078230" y="425768"/>
                </a:lnTo>
                <a:lnTo>
                  <a:pt x="1020128" y="289560"/>
                </a:lnTo>
                <a:lnTo>
                  <a:pt x="820102" y="240983"/>
                </a:lnTo>
                <a:lnTo>
                  <a:pt x="839152" y="127635"/>
                </a:lnTo>
                <a:lnTo>
                  <a:pt x="626745" y="75248"/>
                </a:lnTo>
                <a:lnTo>
                  <a:pt x="664845" y="22860"/>
                </a:lnTo>
                <a:lnTo>
                  <a:pt x="1091565" y="63818"/>
                </a:lnTo>
                <a:lnTo>
                  <a:pt x="1272540" y="0"/>
                </a:lnTo>
                <a:lnTo>
                  <a:pt x="1375410" y="109538"/>
                </a:lnTo>
                <a:lnTo>
                  <a:pt x="1537335" y="0"/>
                </a:lnTo>
                <a:lnTo>
                  <a:pt x="1872615" y="452438"/>
                </a:lnTo>
                <a:lnTo>
                  <a:pt x="1969770" y="444818"/>
                </a:lnTo>
                <a:lnTo>
                  <a:pt x="2325052" y="640080"/>
                </a:lnTo>
                <a:lnTo>
                  <a:pt x="2847975" y="564833"/>
                </a:lnTo>
                <a:lnTo>
                  <a:pt x="2970848" y="678180"/>
                </a:lnTo>
                <a:lnTo>
                  <a:pt x="3151822" y="580073"/>
                </a:lnTo>
                <a:lnTo>
                  <a:pt x="3164205" y="869633"/>
                </a:lnTo>
                <a:lnTo>
                  <a:pt x="3293745" y="1028700"/>
                </a:lnTo>
                <a:lnTo>
                  <a:pt x="3416618" y="960120"/>
                </a:lnTo>
                <a:lnTo>
                  <a:pt x="3481388" y="1032510"/>
                </a:lnTo>
                <a:lnTo>
                  <a:pt x="3655695" y="1021080"/>
                </a:lnTo>
                <a:lnTo>
                  <a:pt x="3642360" y="1167765"/>
                </a:lnTo>
                <a:lnTo>
                  <a:pt x="3804285" y="1231582"/>
                </a:lnTo>
                <a:lnTo>
                  <a:pt x="3997643" y="1133475"/>
                </a:lnTo>
                <a:lnTo>
                  <a:pt x="4023360" y="1254442"/>
                </a:lnTo>
                <a:lnTo>
                  <a:pt x="4120515" y="1269682"/>
                </a:lnTo>
                <a:lnTo>
                  <a:pt x="4236720" y="1446848"/>
                </a:lnTo>
                <a:lnTo>
                  <a:pt x="4313872" y="1404938"/>
                </a:lnTo>
                <a:lnTo>
                  <a:pt x="4520565" y="1537335"/>
                </a:lnTo>
                <a:lnTo>
                  <a:pt x="4346258" y="1759268"/>
                </a:lnTo>
                <a:lnTo>
                  <a:pt x="4436745" y="1876425"/>
                </a:lnTo>
                <a:lnTo>
                  <a:pt x="4430078" y="2019300"/>
                </a:lnTo>
                <a:lnTo>
                  <a:pt x="4527232" y="2090738"/>
                </a:lnTo>
                <a:lnTo>
                  <a:pt x="4566285" y="2354580"/>
                </a:lnTo>
                <a:lnTo>
                  <a:pt x="4513898" y="2395538"/>
                </a:lnTo>
                <a:lnTo>
                  <a:pt x="4197668" y="2343150"/>
                </a:lnTo>
                <a:lnTo>
                  <a:pt x="4069080" y="2493645"/>
                </a:lnTo>
                <a:lnTo>
                  <a:pt x="3965257" y="2460308"/>
                </a:lnTo>
                <a:lnTo>
                  <a:pt x="3990975" y="2568892"/>
                </a:lnTo>
                <a:lnTo>
                  <a:pt x="3888105" y="2527935"/>
                </a:lnTo>
                <a:lnTo>
                  <a:pt x="3830002" y="2647950"/>
                </a:lnTo>
                <a:lnTo>
                  <a:pt x="3468052" y="2678430"/>
                </a:lnTo>
                <a:lnTo>
                  <a:pt x="3461385" y="2757488"/>
                </a:lnTo>
                <a:lnTo>
                  <a:pt x="3345180" y="2776538"/>
                </a:lnTo>
                <a:lnTo>
                  <a:pt x="3254692" y="2896552"/>
                </a:lnTo>
                <a:lnTo>
                  <a:pt x="3126105" y="2863215"/>
                </a:lnTo>
                <a:lnTo>
                  <a:pt x="3080385" y="2746058"/>
                </a:lnTo>
                <a:lnTo>
                  <a:pt x="3164205" y="2610802"/>
                </a:lnTo>
                <a:lnTo>
                  <a:pt x="3093720" y="2557462"/>
                </a:lnTo>
                <a:lnTo>
                  <a:pt x="3158490" y="2512695"/>
                </a:lnTo>
                <a:lnTo>
                  <a:pt x="3112770" y="2448878"/>
                </a:lnTo>
                <a:lnTo>
                  <a:pt x="3035618" y="2441258"/>
                </a:lnTo>
                <a:lnTo>
                  <a:pt x="3061335" y="2335530"/>
                </a:lnTo>
                <a:close/>
              </a:path>
            </a:pathLst>
          </a:custGeom>
          <a:solidFill>
            <a:schemeClr val="lt2"/>
          </a:solidFill>
          <a:ln w="11430">
            <a:solidFill>
              <a:schemeClr val="accent3"/>
            </a:solidFill>
          </a:ln>
        </p:spPr>
      </p:sp>
      <p:sp>
        <p:nvSpPr>
          <p:cNvPr id="10" name="yingshan-county"/>
          <p:cNvSpPr/>
          <p:nvPr/>
        </p:nvSpPr>
        <p:spPr>
          <a:xfrm>
            <a:off x="5157788" y="3377565"/>
            <a:ext cx="318135" cy="438150"/>
          </a:xfrm>
          <a:custGeom>
            <a:avLst/>
            <a:gdLst/>
            <a:ahLst/>
            <a:cxnLst/>
            <a:rect l="l" t="t" r="r" b="b"/>
            <a:pathLst>
              <a:path w="318135" h="438150">
                <a:moveTo>
                  <a:pt x="217170" y="37147"/>
                </a:moveTo>
                <a:lnTo>
                  <a:pt x="245745" y="71438"/>
                </a:lnTo>
                <a:lnTo>
                  <a:pt x="314325" y="99060"/>
                </a:lnTo>
                <a:lnTo>
                  <a:pt x="318135" y="127635"/>
                </a:lnTo>
                <a:lnTo>
                  <a:pt x="201930" y="191452"/>
                </a:lnTo>
                <a:lnTo>
                  <a:pt x="190500" y="273367"/>
                </a:lnTo>
                <a:lnTo>
                  <a:pt x="153353" y="267652"/>
                </a:lnTo>
                <a:lnTo>
                  <a:pt x="138112" y="310515"/>
                </a:lnTo>
                <a:lnTo>
                  <a:pt x="143828" y="328612"/>
                </a:lnTo>
                <a:lnTo>
                  <a:pt x="111443" y="365760"/>
                </a:lnTo>
                <a:lnTo>
                  <a:pt x="100012" y="414338"/>
                </a:lnTo>
                <a:lnTo>
                  <a:pt x="61912" y="438150"/>
                </a:lnTo>
                <a:lnTo>
                  <a:pt x="52388" y="393382"/>
                </a:lnTo>
                <a:lnTo>
                  <a:pt x="25718" y="385762"/>
                </a:lnTo>
                <a:lnTo>
                  <a:pt x="14288" y="362902"/>
                </a:lnTo>
                <a:lnTo>
                  <a:pt x="34290" y="323850"/>
                </a:lnTo>
                <a:lnTo>
                  <a:pt x="55245" y="315277"/>
                </a:lnTo>
                <a:lnTo>
                  <a:pt x="60960" y="280035"/>
                </a:lnTo>
                <a:lnTo>
                  <a:pt x="45720" y="220027"/>
                </a:lnTo>
                <a:lnTo>
                  <a:pt x="0" y="239077"/>
                </a:lnTo>
                <a:lnTo>
                  <a:pt x="28575" y="204788"/>
                </a:lnTo>
                <a:lnTo>
                  <a:pt x="43815" y="154305"/>
                </a:lnTo>
                <a:lnTo>
                  <a:pt x="108585" y="106680"/>
                </a:lnTo>
                <a:lnTo>
                  <a:pt x="109538" y="54292"/>
                </a:lnTo>
                <a:lnTo>
                  <a:pt x="140970" y="55245"/>
                </a:lnTo>
                <a:lnTo>
                  <a:pt x="152400" y="22860"/>
                </a:lnTo>
                <a:lnTo>
                  <a:pt x="204788" y="0"/>
                </a:lnTo>
                <a:lnTo>
                  <a:pt x="217170" y="37147"/>
                </a:lnTo>
                <a:close/>
              </a:path>
            </a:pathLst>
          </a:custGeom>
          <a:solidFill>
            <a:schemeClr val="accent1">
              <a:alpha val="9000"/>
            </a:schemeClr>
          </a:solidFill>
          <a:ln>
            <a:noFill/>
          </a:ln>
        </p:spPr>
      </p:sp>
      <p:sp>
        <p:nvSpPr>
          <p:cNvPr id="11" name="tongshan-county"/>
          <p:cNvSpPr/>
          <p:nvPr/>
        </p:nvSpPr>
        <p:spPr>
          <a:xfrm>
            <a:off x="4403408" y="4274820"/>
            <a:ext cx="429577" cy="359092"/>
          </a:xfrm>
          <a:custGeom>
            <a:avLst/>
            <a:gdLst/>
            <a:ahLst/>
            <a:cxnLst/>
            <a:rect l="l" t="t" r="r" b="b"/>
            <a:pathLst>
              <a:path w="429577" h="359092">
                <a:moveTo>
                  <a:pt x="398145" y="267652"/>
                </a:moveTo>
                <a:lnTo>
                  <a:pt x="401955" y="236220"/>
                </a:lnTo>
                <a:lnTo>
                  <a:pt x="383858" y="215265"/>
                </a:lnTo>
                <a:lnTo>
                  <a:pt x="360997" y="258127"/>
                </a:lnTo>
                <a:lnTo>
                  <a:pt x="403860" y="283845"/>
                </a:lnTo>
                <a:lnTo>
                  <a:pt x="379095" y="305752"/>
                </a:lnTo>
                <a:lnTo>
                  <a:pt x="296227" y="329565"/>
                </a:lnTo>
                <a:lnTo>
                  <a:pt x="287655" y="305752"/>
                </a:lnTo>
                <a:lnTo>
                  <a:pt x="221933" y="315277"/>
                </a:lnTo>
                <a:lnTo>
                  <a:pt x="162877" y="357188"/>
                </a:lnTo>
                <a:lnTo>
                  <a:pt x="125730" y="355283"/>
                </a:lnTo>
                <a:lnTo>
                  <a:pt x="118110" y="342900"/>
                </a:lnTo>
                <a:lnTo>
                  <a:pt x="60008" y="359092"/>
                </a:lnTo>
                <a:lnTo>
                  <a:pt x="45720" y="329565"/>
                </a:lnTo>
                <a:lnTo>
                  <a:pt x="65722" y="297180"/>
                </a:lnTo>
                <a:lnTo>
                  <a:pt x="48577" y="300038"/>
                </a:lnTo>
                <a:lnTo>
                  <a:pt x="42862" y="270510"/>
                </a:lnTo>
                <a:lnTo>
                  <a:pt x="0" y="237172"/>
                </a:lnTo>
                <a:lnTo>
                  <a:pt x="20002" y="227647"/>
                </a:lnTo>
                <a:lnTo>
                  <a:pt x="17145" y="204788"/>
                </a:lnTo>
                <a:lnTo>
                  <a:pt x="59055" y="140970"/>
                </a:lnTo>
                <a:lnTo>
                  <a:pt x="63817" y="110490"/>
                </a:lnTo>
                <a:lnTo>
                  <a:pt x="78105" y="128588"/>
                </a:lnTo>
                <a:lnTo>
                  <a:pt x="99060" y="120015"/>
                </a:lnTo>
                <a:lnTo>
                  <a:pt x="165735" y="64770"/>
                </a:lnTo>
                <a:lnTo>
                  <a:pt x="200025" y="58102"/>
                </a:lnTo>
                <a:lnTo>
                  <a:pt x="215265" y="46672"/>
                </a:lnTo>
                <a:lnTo>
                  <a:pt x="206692" y="30480"/>
                </a:lnTo>
                <a:lnTo>
                  <a:pt x="231458" y="24765"/>
                </a:lnTo>
                <a:lnTo>
                  <a:pt x="243840" y="3810"/>
                </a:lnTo>
                <a:lnTo>
                  <a:pt x="275272" y="0"/>
                </a:lnTo>
                <a:lnTo>
                  <a:pt x="289560" y="4762"/>
                </a:lnTo>
                <a:lnTo>
                  <a:pt x="281940" y="60960"/>
                </a:lnTo>
                <a:lnTo>
                  <a:pt x="348615" y="79058"/>
                </a:lnTo>
                <a:lnTo>
                  <a:pt x="372427" y="110490"/>
                </a:lnTo>
                <a:lnTo>
                  <a:pt x="389572" y="175260"/>
                </a:lnTo>
                <a:lnTo>
                  <a:pt x="429577" y="224790"/>
                </a:lnTo>
                <a:lnTo>
                  <a:pt x="398145" y="267652"/>
                </a:lnTo>
                <a:close/>
              </a:path>
            </a:pathLst>
          </a:custGeom>
          <a:solidFill>
            <a:schemeClr val="accent2">
              <a:alpha val="28000"/>
            </a:schemeClr>
          </a:solidFill>
          <a:ln>
            <a:noFill/>
          </a:ln>
        </p:spPr>
      </p:sp>
      <p:grpSp>
        <p:nvGrpSpPr>
          <p:cNvPr id="13" name="!!province"/>
          <p:cNvGrpSpPr/>
          <p:nvPr/>
        </p:nvGrpSpPr>
        <p:grpSpPr>
          <a:xfrm>
            <a:off x="2844165" y="3403600"/>
            <a:ext cx="502920" cy="352044"/>
            <a:chOff x="2844165" y="3403600"/>
            <a:chExt cx="502920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2844165" y="34036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湖北</a:t>
              </a:r>
            </a:p>
          </p:txBody>
        </p:sp>
      </p:grpSp>
      <p:grpSp>
        <p:nvGrpSpPr>
          <p:cNvPr id="24" name="walk-front"/>
          <p:cNvGrpSpPr/>
          <p:nvPr/>
        </p:nvGrpSpPr>
        <p:grpSpPr>
          <a:xfrm>
            <a:off x="3993642" y="1758950"/>
            <a:ext cx="3419475" cy="2102358"/>
            <a:chOff x="3993642" y="1758950"/>
            <a:chExt cx="3419475" cy="2102358"/>
          </a:xfrm>
        </p:grpSpPr>
        <p:grpSp>
          <p:nvGrpSpPr>
            <p:cNvPr id="17" name="Group 17"/>
            <p:cNvGrpSpPr/>
            <p:nvPr/>
          </p:nvGrpSpPr>
          <p:grpSpPr>
            <a:xfrm>
              <a:off x="4324350" y="2047875"/>
              <a:ext cx="1590675" cy="1524000"/>
              <a:chOff x="4324350" y="2047875"/>
              <a:chExt cx="1590675" cy="15240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5295900" y="2857500"/>
                <a:ext cx="609600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714375">
                    <a:moveTo>
                      <a:pt x="0" y="714375"/>
                    </a:moveTo>
                    <a:lnTo>
                      <a:pt x="6096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905500" y="20478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25">
                    <a:moveTo>
                      <a:pt x="0" y="809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 flipH="1">
                <a:off x="4324350" y="2047875"/>
                <a:ext cx="1581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sp>
          <p:nvSpPr>
            <p:cNvPr id="18" name="Ellipse 18"/>
            <p:cNvSpPr/>
            <p:nvPr/>
          </p:nvSpPr>
          <p:spPr>
            <a:xfrm>
              <a:off x="5238750" y="35147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867400" y="26479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93642" y="17589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北上至陕北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27242" y="24923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何家冲（省外）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7380" y="331787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英山 · 陶家河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08142" y="35972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集结转移</a:t>
              </a:r>
            </a:p>
          </p:txBody>
        </p:sp>
      </p:grpSp>
      <p:grpSp>
        <p:nvGrpSpPr>
          <p:cNvPr id="29" name="stay-front"/>
          <p:cNvGrpSpPr/>
          <p:nvPr/>
        </p:nvGrpSpPr>
        <p:grpSpPr>
          <a:xfrm>
            <a:off x="4191000" y="4048125"/>
            <a:ext cx="2137400" cy="718058"/>
            <a:chOff x="4191000" y="4048125"/>
            <a:chExt cx="2137400" cy="718058"/>
          </a:xfrm>
        </p:grpSpPr>
        <p:sp>
          <p:nvSpPr>
            <p:cNvPr id="25" name="Line 25"/>
            <p:cNvSpPr/>
            <p:nvPr/>
          </p:nvSpPr>
          <p:spPr>
            <a:xfrm>
              <a:off x="4191000" y="4048125"/>
              <a:ext cx="400050" cy="3905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6" name="Ellipse 26"/>
            <p:cNvSpPr/>
            <p:nvPr/>
          </p:nvSpPr>
          <p:spPr>
            <a:xfrm>
              <a:off x="4552950" y="44100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59680" y="4232275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通山 · 冷水坪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60442" y="45021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向山坚守</a:t>
              </a:r>
            </a:p>
          </p:txBody>
        </p:sp>
      </p:grpSp>
      <p:sp>
        <p:nvSpPr>
          <p:cNvPr id="30" name="Line 30"/>
          <p:cNvSpPr/>
          <p:nvPr/>
        </p:nvSpPr>
        <p:spPr>
          <a:xfrm>
            <a:off x="7705725" y="1981200"/>
            <a:ext cx="9525" cy="2781300"/>
          </a:xfrm>
          <a:custGeom>
            <a:avLst/>
            <a:gdLst/>
            <a:ahLst/>
            <a:cxnLst/>
            <a:rect l="l" t="t" r="r" b="b"/>
            <a:pathLst>
              <a:path w="9525" h="2781300">
                <a:moveTo>
                  <a:pt x="0" y="0"/>
                </a:moveTo>
                <a:lnTo>
                  <a:pt x="0" y="278130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34" name="decision"/>
          <p:cNvGrpSpPr/>
          <p:nvPr/>
        </p:nvGrpSpPr>
        <p:grpSpPr>
          <a:xfrm>
            <a:off x="8103108" y="2016125"/>
            <a:ext cx="2932176" cy="1023620"/>
            <a:chOff x="8103108" y="2016125"/>
            <a:chExt cx="2932176" cy="1023620"/>
          </a:xfrm>
        </p:grpSpPr>
        <p:sp>
          <p:nvSpPr>
            <p:cNvPr id="31" name="TextBox 31"/>
            <p:cNvSpPr txBox="1"/>
            <p:nvPr/>
          </p:nvSpPr>
          <p:spPr>
            <a:xfrm>
              <a:off x="8108442" y="20161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主动选择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3108" y="228917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退守深山，坚持游击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7680" y="2746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把火种留下来</a:t>
              </a:r>
            </a:p>
          </p:txBody>
        </p:sp>
      </p:grpSp>
      <p:grpSp>
        <p:nvGrpSpPr>
          <p:cNvPr id="38" name="outcome"/>
          <p:cNvGrpSpPr/>
          <p:nvPr/>
        </p:nvGrpSpPr>
        <p:grpSpPr>
          <a:xfrm>
            <a:off x="8106156" y="3216275"/>
            <a:ext cx="2007097" cy="1426845"/>
            <a:chOff x="8106156" y="3216275"/>
            <a:chExt cx="2007097" cy="1426845"/>
          </a:xfrm>
        </p:grpSpPr>
        <p:sp>
          <p:nvSpPr>
            <p:cNvPr id="35" name="TextBox 35"/>
            <p:cNvSpPr txBox="1"/>
            <p:nvPr/>
          </p:nvSpPr>
          <p:spPr>
            <a:xfrm>
              <a:off x="8108442" y="32162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深山之中，接续斗争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6156" y="3603625"/>
              <a:ext cx="20070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兵工厂 · 红军医院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7680" y="4035425"/>
              <a:ext cx="1920240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长征后，湖北最后一块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游击根据地的中心</a:t>
              </a:r>
            </a:p>
          </p:txBody>
        </p:sp>
      </p:grpSp>
      <p:grpSp>
        <p:nvGrpSpPr>
          <p:cNvPr id="41" name="map-caption"/>
          <p:cNvGrpSpPr/>
          <p:nvPr/>
        </p:nvGrpSpPr>
        <p:grpSpPr>
          <a:xfrm>
            <a:off x="604266" y="4873625"/>
            <a:ext cx="10983468" cy="205359"/>
            <a:chOff x="604266" y="4873625"/>
            <a:chExt cx="109834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604266" y="4873625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县域定位与战线方向示意 · 非精确行军轨迹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59651" y="4873625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双线时序 / 按叙事节点排列</a:t>
              </a:r>
            </a:p>
          </p:txBody>
        </p:sp>
      </p:grpSp>
      <p:grpSp>
        <p:nvGrpSpPr>
          <p:cNvPr id="56" name="!!walk-lane"/>
          <p:cNvGrpSpPr/>
          <p:nvPr/>
        </p:nvGrpSpPr>
        <p:grpSpPr>
          <a:xfrm>
            <a:off x="601980" y="5102225"/>
            <a:ext cx="10980420" cy="671195"/>
            <a:chOff x="601980" y="5102225"/>
            <a:chExt cx="10980420" cy="671195"/>
          </a:xfrm>
        </p:grpSpPr>
        <p:sp>
          <p:nvSpPr>
            <p:cNvPr id="42" name="TextBox 42"/>
            <p:cNvSpPr txBox="1"/>
            <p:nvPr/>
          </p:nvSpPr>
          <p:spPr>
            <a:xfrm>
              <a:off x="601980" y="5289550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走 · 外线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2095500" y="5391150"/>
              <a:ext cx="9486900" cy="9525"/>
            </a:xfrm>
            <a:custGeom>
              <a:avLst/>
              <a:gdLst/>
              <a:ahLst/>
              <a:cxnLst/>
              <a:rect l="l" t="t" r="r" b="b"/>
              <a:pathLst>
                <a:path w="9486900" h="9525">
                  <a:moveTo>
                    <a:pt x="0" y="0"/>
                  </a:moveTo>
                  <a:lnTo>
                    <a:pt x="94869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2647950" y="5353050"/>
              <a:ext cx="7677150" cy="76200"/>
              <a:chOff x="2647950" y="5353050"/>
              <a:chExt cx="7677150" cy="7620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2647950" y="535305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153150" y="535305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10248900" y="535305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2313203" y="5102225"/>
              <a:ext cx="8261833" cy="205359"/>
              <a:chOff x="2313203" y="5102225"/>
              <a:chExt cx="8261833" cy="205359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2313203" y="5102225"/>
                <a:ext cx="7456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1934年深秋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903214" y="5102225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北上出发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998964" y="5102225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发展壮大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375535" y="5480050"/>
              <a:ext cx="8121015" cy="293370"/>
              <a:chOff x="2375535" y="5480050"/>
              <a:chExt cx="8121015" cy="293370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2375535" y="5480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陶家河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880735" y="5480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何家冲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077450" y="5480050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陕北</a:t>
                </a:r>
              </a:p>
            </p:txBody>
          </p:sp>
        </p:grpSp>
      </p:grpSp>
      <p:grpSp>
        <p:nvGrpSpPr>
          <p:cNvPr id="71" name="!!stay-lane"/>
          <p:cNvGrpSpPr/>
          <p:nvPr/>
        </p:nvGrpSpPr>
        <p:grpSpPr>
          <a:xfrm>
            <a:off x="601980" y="5730875"/>
            <a:ext cx="10980420" cy="671195"/>
            <a:chOff x="601980" y="5730875"/>
            <a:chExt cx="10980420" cy="671195"/>
          </a:xfrm>
        </p:grpSpPr>
        <p:sp>
          <p:nvSpPr>
            <p:cNvPr id="57" name="TextBox 57"/>
            <p:cNvSpPr txBox="1"/>
            <p:nvPr/>
          </p:nvSpPr>
          <p:spPr>
            <a:xfrm>
              <a:off x="601980" y="5918200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留 · 腹地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2095500" y="6019800"/>
              <a:ext cx="9486900" cy="9525"/>
            </a:xfrm>
            <a:custGeom>
              <a:avLst/>
              <a:gdLst/>
              <a:ahLst/>
              <a:cxnLst/>
              <a:rect l="l" t="t" r="r" b="b"/>
              <a:pathLst>
                <a:path w="9486900" h="9525">
                  <a:moveTo>
                    <a:pt x="0" y="0"/>
                  </a:moveTo>
                  <a:lnTo>
                    <a:pt x="9486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2638425" y="5972175"/>
              <a:ext cx="7696200" cy="95250"/>
              <a:chOff x="2638425" y="5972175"/>
              <a:chExt cx="7696200" cy="95250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2638425" y="59721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6143625" y="59721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10239375" y="59721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66" name="Group 66"/>
            <p:cNvGrpSpPr/>
            <p:nvPr/>
          </p:nvGrpSpPr>
          <p:grpSpPr>
            <a:xfrm>
              <a:off x="2327338" y="5730875"/>
              <a:ext cx="8247698" cy="205359"/>
              <a:chOff x="2327338" y="5730875"/>
              <a:chExt cx="8247698" cy="205359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2327338" y="5730875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主力北上后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903214" y="5730875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退守山地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998964" y="5730875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持续斗争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2274570" y="6108700"/>
              <a:ext cx="8423910" cy="293370"/>
              <a:chOff x="2274570" y="6108700"/>
              <a:chExt cx="8423910" cy="293370"/>
            </a:xfrm>
          </p:grpSpPr>
          <p:sp>
            <p:nvSpPr>
              <p:cNvPr id="67" name="TextBox 67"/>
              <p:cNvSpPr txBox="1"/>
              <p:nvPr/>
            </p:nvSpPr>
            <p:spPr>
              <a:xfrm>
                <a:off x="2274570" y="61087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离开平原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5880735" y="610870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冷水坪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875520" y="61087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坚持游击</a:t>
                </a:r>
              </a:p>
            </p:txBody>
          </p:sp>
        </p:grpSp>
      </p:grpSp>
      <p:grpSp>
        <p:nvGrpSpPr>
          <p:cNvPr id="73" name="takeaway"/>
          <p:cNvGrpSpPr/>
          <p:nvPr/>
        </p:nvGrpSpPr>
        <p:grpSpPr>
          <a:xfrm>
            <a:off x="4248531" y="6473825"/>
            <a:ext cx="3694938" cy="381381"/>
            <a:chOff x="4248531" y="6473825"/>
            <a:chExt cx="3694938" cy="381381"/>
          </a:xfrm>
        </p:grpSpPr>
        <p:sp>
          <p:nvSpPr>
            <p:cNvPr id="72" name="TextBox 72"/>
            <p:cNvSpPr txBox="1"/>
            <p:nvPr/>
          </p:nvSpPr>
          <p:spPr>
            <a:xfrm>
              <a:off x="4248531" y="6473825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取舍不同，指向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同一个革命大局</a:t>
              </a:r>
            </a:p>
          </p:txBody>
        </p:sp>
      </p:grpSp>
    </p:spTree>
  </p:cSld>
  <p:clrMapOvr>
    <a:masterClrMapping/>
  </p:clrMapOvr>
  <mc:AlternateContent>
    <mc:Choice Requires="p159">
      <p:transition p14:dur="6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alk_stay_two_fronts">
  <a:themeElements>
    <a:clrScheme name="walk_stay_two_fronts">
      <a:dk1>
        <a:srgbClr val="302F2D"/>
      </a:dk1>
      <a:lt1>
        <a:srgbClr val="FAF8F4"/>
      </a:lt1>
      <a:dk2>
        <a:srgbClr val="1F497D"/>
      </a:dk2>
      <a:lt2>
        <a:srgbClr val="EAE7E2"/>
      </a:lt2>
      <a:accent1>
        <a:srgbClr val="902E2C"/>
      </a:accent1>
      <a:accent2>
        <a:srgbClr val="355E50"/>
      </a:accent2>
      <a:accent3>
        <a:srgbClr val="C8C2BC"/>
      </a:accent3>
      <a:accent4>
        <a:srgbClr val="902E2C"/>
      </a:accent4>
      <a:accent5>
        <a:srgbClr val="716D67"/>
      </a:accent5>
      <a:accent6>
        <a:srgbClr val="D8D2C9"/>
      </a:accent6>
      <a:hlink>
        <a:srgbClr val="355E50"/>
      </a:hlink>
      <a:folHlink>
        <a:srgbClr val="C8C2BC"/>
      </a:folHlink>
    </a:clrScheme>
    <a:fontScheme name="walk_stay_two_fronts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alk_stay_two_front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alk_stay_two_fronts">
  <a:themeElements>
    <a:clrScheme name="walk_stay_two_fronts">
      <a:dk1>
        <a:srgbClr val="302F2D"/>
      </a:dk1>
      <a:lt1>
        <a:srgbClr val="FAF8F4"/>
      </a:lt1>
      <a:dk2>
        <a:srgbClr val="1F497D"/>
      </a:dk2>
      <a:lt2>
        <a:srgbClr val="EAE7E2"/>
      </a:lt2>
      <a:accent1>
        <a:srgbClr val="902E2C"/>
      </a:accent1>
      <a:accent2>
        <a:srgbClr val="355E50"/>
      </a:accent2>
      <a:accent3>
        <a:srgbClr val="C8C2BC"/>
      </a:accent3>
      <a:accent4>
        <a:srgbClr val="902E2C"/>
      </a:accent4>
      <a:accent5>
        <a:srgbClr val="716D67"/>
      </a:accent5>
      <a:accent6>
        <a:srgbClr val="D8D2C9"/>
      </a:accent6>
      <a:hlink>
        <a:srgbClr val="355E50"/>
      </a:hlink>
      <a:folHlink>
        <a:srgbClr val="C8C2BC"/>
      </a:folHlink>
    </a:clrScheme>
    <a:fontScheme name="walk_stay_two_fronts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alk_stay_two_front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2026-10-26T02:23:10Z</dcterms:created>
  <dcterms:modified xsi:type="dcterms:W3CDTF">2026-10-26T02:23:10Z</dcterms:modified>
  <cp:category/>
  <cp:contentStatus/>
</cp:coreProperties>
</file>